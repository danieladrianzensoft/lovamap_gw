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LOVAMAP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600" b="0">
                <a:solidFill>
                  <a:srgbClr val="B0C4DE"/>
                </a:solidFill>
                <a:latin typeface="Calibri"/>
              </a:defRPr>
            </a:pPr>
            <a:r>
              <a:t>Lowering the Barrier for Void Analysis of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2600" b="0">
                <a:solidFill>
                  <a:srgbClr val="B0C4DE"/>
                </a:solidFill>
                <a:latin typeface="Calibri"/>
              </a:defRPr>
            </a:pPr>
            <a:r>
              <a:t>Microporous Annealed Particle Scaffolds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CAB"/>
                </a:solidFill>
                <a:latin typeface="Calibri"/>
              </a:defRPr>
            </a:pPr>
            <a:r>
              <a:t>Advisory Board Meeting  —  Platform Overview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Segura Lab  |  Duke University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8A9BAE"/>
                </a:solidFill>
                <a:latin typeface="Calibri"/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12A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200400" cy="54864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05A4F"/>
                </a:solidFill>
                <a:latin typeface="Calibri"/>
              </a:defRPr>
            </a:pPr>
            <a:r>
              <a:t>Inaccessible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Running LOVAMAP scaffold analysis currently requires local installation of specialized software, command-line expertise, and significant compute resources — putting it out of reach for most experimental labs.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200400" cy="54864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9C23"/>
                </a:solidFill>
                <a:latin typeface="Calibri"/>
              </a:defRPr>
            </a:pPr>
            <a:r>
              <a:t>Fragmented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Granular material scaffold data is scattered across individual labs, stored in incompatible formats, and published without standardized metadata — making cross-study comparison nearly impossible.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6304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63040"/>
            <a:ext cx="3200400" cy="54864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CAB"/>
                </a:solidFill>
                <a:latin typeface="Calibri"/>
              </a:defRPr>
            </a:pPr>
            <a:r>
              <a:t>Inconsistent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Published studies on MAP scaffolds report fabrication parameters, experimental conditions, and outcomes using varying terminology, units, and levels of detail — hindering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12A5E"/>
                </a:solidFill>
                <a:latin typeface="Calibri"/>
              </a:defRPr>
            </a:pPr>
            <a:r>
              <a:t>Our Approach: 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LOVAMAP Gateway addresses these challenges through an integrated web platform built on three pillars.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3832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108960" cy="54864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593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rPr dirty="0"/>
              <a:t>Scaffold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3921"/>
            <a:ext cx="283464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Submit jobs to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lovamap_core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via browser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Particle segmentation from microscopy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Pore-level structural descriptors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3D mesh generation &amp; visualization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Job chaining (segment → analyze → mesh)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AI-powered scaffold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3108960" cy="54864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63440" y="1965960"/>
            <a:ext cx="457200" cy="457200"/>
          </a:xfrm>
          <a:prstGeom prst="ellipse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1593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Data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03921"/>
            <a:ext cx="283464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PostgreSQL: geometry &amp; structure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RDF/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Fuseki</a:t>
            </a:r>
            <a:r>
              <a:rPr sz="1300" dirty="0">
                <a:solidFill>
                  <a:srgbClr val="1A1A2E"/>
                </a:solidFill>
                <a:latin typeface="Calibri"/>
              </a:rPr>
              <a:t>: literature &amp; experiments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Per-pore descriptor arrays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3D mesh files (.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glb</a:t>
            </a:r>
            <a:r>
              <a:rPr sz="1300" dirty="0">
                <a:solidFill>
                  <a:srgbClr val="1A1A2E"/>
                </a:solidFill>
                <a:latin typeface="Calibri"/>
              </a:rPr>
              <a:t>) for each domain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Paper → Material → Experiment → Outcome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Bridge: RDF links to relational scaffolds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737360"/>
            <a:ext cx="33832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108960" cy="54864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1593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Data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03921"/>
            <a:ext cx="283464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Controlled descriptor vocabulary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Structured fabrication metadata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RDF ontology as reporting schema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Publication dataset versioning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Immutable, hash-verified snapshots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 Auto-tagging &amp;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12A5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71600"/>
            <a:ext cx="7315200" cy="822960"/>
          </a:xfrm>
          <a:prstGeom prst="roundRect">
            <a:avLst>
              <a:gd name="adj" fmla="val 5000"/>
            </a:avLst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23160" y="1417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2A5E"/>
                </a:solidFill>
                <a:latin typeface="Calibri"/>
              </a:defRPr>
            </a:pPr>
            <a:r>
              <a:t>LOVAMAP Frontend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React + TypeScript  |  3D Visualization  |  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48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560320"/>
            <a:ext cx="7315200" cy="2377440"/>
          </a:xfrm>
          <a:prstGeom prst="roundRect">
            <a:avLst>
              <a:gd name="adj" fmla="val 5000"/>
            </a:avLst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14600" y="2560320"/>
            <a:ext cx="7132320" cy="45720"/>
          </a:xfrm>
          <a:prstGeom prst="rect">
            <a:avLst/>
          </a:prstGeom>
          <a:solidFill>
            <a:srgbClr val="00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2A5E"/>
                </a:solidFill>
                <a:latin typeface="Calibri"/>
              </a:defRPr>
            </a:pPr>
            <a:r>
              <a:t>LOVAMAP Gateway  (.NET 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80" y="3200400"/>
            <a:ext cx="960120" cy="36576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Jobs &amp;</a:t>
            </a:r>
            <a:br/>
            <a:r>
              <a:t>Core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58768" y="3200400"/>
            <a:ext cx="960120" cy="36576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3048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Scaffold</a:t>
            </a:r>
            <a:br/>
            <a:r>
              <a:t>Groups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0056" y="3200400"/>
            <a:ext cx="960120" cy="36576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4336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Descriptors</a:t>
            </a:r>
            <a:br/>
            <a:r>
              <a:t>&amp;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3200400"/>
            <a:ext cx="960120" cy="36576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35624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RDF</a:t>
            </a:r>
            <a:br/>
            <a:r>
              <a:t>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42632" y="3200400"/>
            <a:ext cx="960120" cy="36576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Publications</a:t>
            </a:r>
            <a:br/>
            <a:r>
              <a:t>&amp; Datasets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3200400"/>
            <a:ext cx="1051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03920" y="3200400"/>
            <a:ext cx="960120" cy="36576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33756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Auth &amp;</a:t>
            </a:r>
            <a:br/>
            <a: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15 REST API Controllers  |  JWT Auth  |  Role-Based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53035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51760" y="5303520"/>
            <a:ext cx="2011680" cy="36576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A17E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Geometry, Descriptors,</a:t>
            </a:r>
            <a:br/>
            <a:r>
              <a:t>Fabrication, Jobs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53035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74920" y="5303520"/>
            <a:ext cx="2011680" cy="36576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9C23"/>
                </a:solidFill>
                <a:latin typeface="Calibri"/>
              </a:defRPr>
            </a:pPr>
            <a:r>
              <a:t>Apache Jena Fuseki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Papers, Experiments,</a:t>
            </a:r>
            <a:br/>
            <a:r>
              <a:t>Outcomes (RDF/SPARQL)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53035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98080" y="5303520"/>
            <a:ext cx="2011680" cy="36576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5236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CAB"/>
                </a:solidFill>
                <a:latin typeface="Calibri"/>
              </a:defRPr>
            </a:pPr>
            <a:r>
              <a:t>lovamap_core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Computational Engine</a:t>
            </a:r>
            <a:br/>
            <a:r>
              <a:t>(Python)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2A5E"/>
                </a:solidFill>
                <a:latin typeface="Calibri"/>
              </a:defRPr>
            </a:pPr>
            <a:r>
              <a:t>Scaffold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2A5E"/>
                </a:solidFill>
                <a:latin typeface="Calibri"/>
              </a:defRPr>
            </a:pPr>
            <a:r>
              <a:t>Computational Job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77724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CA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2A5E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76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CSV / DAT / JSON / 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15768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15768"/>
            <a:ext cx="73152" cy="77724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807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CA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614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2A5E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Particle segmentation</a:t>
            </a:r>
            <a:br/>
            <a:r>
              <a:t>from microscopy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47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02736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602736"/>
            <a:ext cx="73152" cy="77724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69417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CA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484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2A5E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50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Pore descriptors,</a:t>
            </a:r>
            <a:br/>
            <a:r>
              <a:t>global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342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9704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489704"/>
            <a:ext cx="73152" cy="77724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58114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CA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5354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2A5E"/>
                </a:solidFill>
                <a:latin typeface="Calibri"/>
              </a:defRPr>
            </a:pPr>
            <a:r>
              <a:t>Mesh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8371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3D .glb generation</a:t>
            </a:r>
            <a:br/>
            <a:r>
              <a:t>for visualization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2212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76672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5376672"/>
            <a:ext cx="73152" cy="777240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4681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A17E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422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2A5E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7241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Results persisted to</a:t>
            </a:r>
            <a:br/>
            <a:r>
              <a:t>ScaffoldGroup + Descriptors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2A5E"/>
                </a:solidFill>
                <a:latin typeface="Calibri"/>
              </a:defRPr>
            </a:pPr>
            <a:r>
              <a:t>Computed Outputs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828800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1828800"/>
            <a:ext cx="73152" cy="86868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Global Descriptors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Scaffold-level scalar metrics: total porosity, mean pore volume, pore count, void fraction, surface area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807208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2807208"/>
            <a:ext cx="73152" cy="86868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Pore Descriptors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1729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Per-pore measurement arrays: individual volumes, surface areas, aspect ratios, longest dimensions, connectivity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85616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3785616"/>
            <a:ext cx="73152" cy="868680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3858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Other Descriptors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151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Additional computed properties: spatial distributions, throat metrics, coordination numbers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764024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4764024"/>
            <a:ext cx="73152" cy="868680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48371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3D Domains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1297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Segmented regions (particles, pores, other) as interactive .glb meshes with voxel-grid metadata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742432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0" y="5742432"/>
            <a:ext cx="73152" cy="868680"/>
          </a:xfrm>
          <a:prstGeom prst="rect">
            <a:avLst/>
          </a:prstGeom>
          <a:solidFill>
            <a:srgbClr val="00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5815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AI 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61081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Natural language queries across the scaffold database: 'spherical particles ~100µm with high porosity'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2A5E"/>
                </a:solidFill>
                <a:latin typeface="Calibri"/>
              </a:defRPr>
            </a:pPr>
            <a:r>
              <a:t>Comprehensive Data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A17E"/>
                </a:solidFill>
                <a:latin typeface="Calibri"/>
              </a:defRPr>
            </a:pPr>
            <a:r>
              <a:t>Relational Database (PostgreSQL)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Scaffold instance data with full provenance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3035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ourier New"/>
              </a:defRPr>
            </a:pPr>
            <a:r>
              <a:t>ScaffoldGroup</a:t>
            </a:r>
            <a:br/>
            <a:r>
              <a:t>  ├─ InputGroup</a:t>
            </a:r>
            <a:br/>
            <a:r>
              <a:t>  │    └─ ParticlePropertyGroups</a:t>
            </a:r>
            <a:br/>
            <a:r>
              <a:t>  │         (shape, size, stiffness, friction)</a:t>
            </a:r>
            <a:br/>
            <a:r>
              <a:t>  ├─ Scaffolds (replicates)</a:t>
            </a:r>
            <a:br/>
            <a:r>
              <a:t>  │    ├─ Domains (.glb meshes)</a:t>
            </a:r>
            <a:br/>
            <a:r>
              <a:t>  │    ├─ GlobalDescriptors (scalars)</a:t>
            </a:r>
            <a:br/>
            <a:r>
              <a:t>  │    ├─ PoreDescriptors (arrays)</a:t>
            </a:r>
            <a:br/>
            <a:r>
              <a:t>  │    ├─ OtherDescriptors (flexible)</a:t>
            </a:r>
            <a:br/>
            <a:r>
              <a:t>  │    └─ Jobs (analysis history)</a:t>
            </a:r>
            <a:br/>
            <a:r>
              <a:t>  └─ Images &amp; Tags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Supports batch upload (200 MB JSON), batch mesh replacement, and bulk descriptor seeding.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C23"/>
                </a:solidFill>
                <a:latin typeface="Calibri"/>
              </a:defRPr>
            </a:pPr>
            <a:r>
              <a:t>RDF Knowledge Base (Fuseki)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Paper-centric experimental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130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DOI, title, authors, journal, paper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889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889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816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Particle shape/size/material, porosity, packing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747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FabricationMethod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Chemistry, reagents (CAS#), enzymes, peptides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1605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1605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Cell type, seeding density, culture conditions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8463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48463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Value ± SD, unit, sample size, time series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53212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5532120"/>
            <a:ext cx="54864" cy="59436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5559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alibri"/>
              </a:defRPr>
            </a:pPr>
            <a:r>
              <a:t>GeometryProfile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806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Fuzzy match to relational DB scaffolds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309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2A5E"/>
                </a:solidFill>
                <a:latin typeface="Calibri"/>
              </a:defRPr>
            </a:pPr>
            <a:r>
              <a:t>Bridging Relational &amp; RDF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The two databases serve complementary roles. The relational DB stores precise, per-scaffold computed data. The RDF store captures qualitative, paper-level knowledge. They connect through two bridging mechanisms: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029200" cy="54864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A17E"/>
                </a:solidFill>
                <a:latin typeface="Calibri"/>
              </a:defRPr>
            </a:pPr>
            <a:r>
              <a:t>Exact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ourier New"/>
              </a:defRPr>
            </a:pPr>
            <a:r>
              <a:t>lova:scaffoldGroupId  /  lova:scaffoldId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6B7B8D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Direct integer references from RDF Material nodes to relational DB records. Used when a paper's scaffold data has been uploaded to LOVAMAP.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6B7B8D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Example: "Paper by Liu et al. (2023) used scaffolds that correspond to ScaffoldGroup #42 in our database."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029200" cy="54864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C23"/>
                </a:solidFill>
                <a:latin typeface="Calibri"/>
              </a:defRPr>
            </a:pPr>
            <a:r>
              <a:t>Fuzzy Match (GeometryProfile)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2A5E"/>
                </a:solidFill>
                <a:latin typeface="Courier New"/>
              </a:defRPr>
            </a:pPr>
            <a:r>
              <a:t>lova:hasGeometryProfile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6B7B8D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A GeometryProfile node describes matching criteria (particle shape, size range, material) to find similar scaffolds in the relational DB, even when the exact data hasn't been uploaded.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6B7B8D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Example: "This paper used ~70µm PEG spheres — find all scaffold groups in our DB matching that profile."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This enables cross-referencing: </a:t>
            </a:r>
            <a:r>
              <a:rPr sz="1500" i="1">
                <a:solidFill>
                  <a:srgbClr val="3AA17E"/>
                </a:solidFill>
                <a:latin typeface="Calibri"/>
              </a:rPr>
              <a:t>"Show me the biological outcomes reported in the literature for scaffolds with geometry similar to the ones I just analyzed."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2A5E"/>
                </a:solidFill>
                <a:latin typeface="Calibri"/>
              </a:defRPr>
            </a:pPr>
            <a:r>
              <a:t>Data Standardization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Controlled Descriptor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Every computed property has a DescriptorType record defining its name, unit, category, data type, and description. When two scaffolds report 'pore volume,' they mean the same thing, computed the same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02920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Structured Fabrication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InputGroup and ParticlePropertyGroup models enforce a consistent schema: container geometry, packing configuration (from controlled enums), per-particle-type properties with standardized fields. No more free-text fabrication descriptions.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502920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RDF Ontology as Reporting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The LOVAMAP ontology defines the minimum information for a MAP scaffold study: materials (with CAS numbers), fabrication chemistry, experimental conditions (cell type, seeding density, culture duration), and outcomes (value ± SD, unit, sample size). Papers that fit this schema have reported with sufficient detail for reproducibility.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749040"/>
            <a:ext cx="502920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2A5E"/>
                </a:solidFill>
                <a:latin typeface="Calibri"/>
              </a:defRPr>
            </a:pPr>
            <a:r>
              <a:t>Publication Dataset Versioning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Frozen, hash-verified snapshots of scaffold data tied to specific papers. Descriptor selection rules control exactly which job outputs are included. The exact data underlying a publication can be reconstructed even as the live database evolves.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Vision: Where We're Headed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Building toward a comprehensive, community-driven resource for the MAP scaffold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Community database</a:t>
            </a:r>
            <a:r>
              <a:rPr sz="1600">
                <a:solidFill>
                  <a:srgbClr val="D0D8E8"/>
                </a:solidFill>
                <a:latin typeface="Calibri"/>
              </a:rPr>
              <a:t> — A centralized, publicly accessible repository where any lab can upload scaffold data and browse results from across the field.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Literature knowledge graph</a:t>
            </a:r>
            <a:r>
              <a:rPr sz="1600">
                <a:solidFill>
                  <a:srgbClr val="D0D8E8"/>
                </a:solidFill>
                <a:latin typeface="Calibri"/>
              </a:rPr>
              <a:t> — A growing RDF knowledge base that captures every MAP scaffold paper's materials, methods, and outcomes in a structured, queryable format.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Cross-study comparison</a:t>
            </a:r>
            <a:r>
              <a:rPr sz="1600">
                <a:solidFill>
                  <a:srgbClr val="D0D8E8"/>
                </a:solidFill>
                <a:latin typeface="Calibri"/>
              </a:rPr>
              <a:t> — Overlay computed geometry from our relational DB with experimental outcomes from the literature to answer questions no single paper can.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Reporting standard</a:t>
            </a:r>
            <a:r>
              <a:rPr sz="1600">
                <a:solidFill>
                  <a:srgbClr val="D0D8E8"/>
                </a:solidFill>
                <a:latin typeface="Calibri"/>
              </a:rPr>
              <a:t> — The LOVAMAP ontology as a community-endorsed minimum reporting checklist for MAP scaffold publications.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Automated ingestion</a:t>
            </a:r>
            <a:r>
              <a:rPr sz="1600">
                <a:solidFill>
                  <a:srgbClr val="D0D8E8"/>
                </a:solidFill>
                <a:latin typeface="Calibri"/>
              </a:rPr>
              <a:t> — AI-assisted extraction of structured data from published papers, reducing the manual effort to populate the knowledge graph.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>
                <a:solidFill>
                  <a:srgbClr val="009CAB"/>
                </a:solidFill>
                <a:latin typeface="Calibri"/>
              </a:rPr>
              <a:t>▶  Expanded analysis</a:t>
            </a:r>
            <a:r>
              <a:rPr sz="1600">
                <a:solidFill>
                  <a:srgbClr val="D0D8E8"/>
                </a:solidFill>
                <a:latin typeface="Calibri"/>
              </a:rPr>
              <a:t> — New descriptor types, mechanical simulation integration, and cross-scaffold comparison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2A5E"/>
                </a:solidFill>
                <a:latin typeface="Calibri"/>
              </a:defRPr>
            </a:pPr>
            <a:r>
              <a:t>Discussion: Functionality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4F"/>
                </a:solidFill>
                <a:latin typeface="Calibri"/>
              </a:defRPr>
            </a:pPr>
            <a:r>
              <a:t>What capabilities would make LOVAMAP most useful to the MAP scaffold community?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CAB"/>
                </a:solidFill>
                <a:latin typeface="Calibri"/>
              </a:defRPr>
            </a:pPr>
            <a:r>
              <a:t>Analysis &amp;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2120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Which new descriptor types would be most valuable to compute? (e.g., mechanical properties, connectivity metrics, tortuosity)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Should users be able to run custom analysis scripts on uploaded data, or is a curated set of descriptors sufficient?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How important is cross-scaffold comparison tooling — e.g., overlaying pore distributions from multiple groups?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Would simulation capabilities (e.g., mechanical loading, fluid flow) add meaningful value?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What visualization features matter most: animations, cross-sections, overlays with experimental images?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A17E"/>
                </a:solidFill>
                <a:latin typeface="Calibri"/>
              </a:defRPr>
            </a:pPr>
            <a:r>
              <a:t>Data &amp; Community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2120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Should data upload be open to any researcher, or curated/moderated?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How do we incentivize labs to contribute data? (credit, co-authorship, priority access?)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What export formats are essential? (CSV, JSON, RDF/Turtle, custom reports?)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How should we handle proprietary or pre-publication data? Embargo periods? Private groups?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▸  What level of metadata granularity is practical to require for uploads?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2A5E"/>
                </a:solidFill>
                <a:latin typeface="Calibri"/>
              </a:defRPr>
            </a:pPr>
            <a:r>
              <a:t>Discussion: Expected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4F"/>
                </a:solidFill>
                <a:latin typeface="Calibri"/>
              </a:defRPr>
            </a:pPr>
            <a:r>
              <a:t>When you imagine exploring this database, what questions would you want to answer?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03520" cy="45720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AA17E"/>
                </a:solidFill>
                <a:latin typeface="Calibri"/>
              </a:defRPr>
            </a:pPr>
            <a:r>
              <a:t>Queries We Can Support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"Show all scaffold groups with spherical particles between 50–100µm"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"What is the pore size distribution for ScaffoldGroup #42?"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"Find scaffolds with porosity &gt; 0.6 and isotropic packing"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"Which papers studied PEG-based MAP scaffolds?"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"What cell types have been tested on 70µm particle scaffolds?"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"Show the knowledge graph for paper DOI:10.1002/adhm.202300823"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 "Compare pore aspect ratios across all my uploaded scaffold groups"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30352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9C23"/>
                </a:solidFill>
                <a:latin typeface="Calibri"/>
              </a:defRPr>
            </a:pPr>
            <a:r>
              <a:t>Queries We Want to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"What scaffold geometry maximizes cell infiltration for MSCs?"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"Is there a correlation between pore aspect ratio and vascularization across all published studies?"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"What fabrication parameters produce scaffolds most similar to this 3D-printed reference?"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"Show me the optimal particle size range for bone regeneration based on all available data"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"Which scaffold properties are most predictive of macrophage polarization?"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○  "Compare my new scaffold's geometry to all published scaffolds with in vivo outcomes"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5A4F"/>
                </a:solidFill>
                <a:latin typeface="Calibri"/>
              </a:defRPr>
            </a:pPr>
            <a:r>
              <a:t>What queries are missing? What questions would you ask this database that we haven't considered?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2A5E"/>
                </a:solidFill>
                <a:latin typeface="Calibri"/>
              </a:defRPr>
            </a:pPr>
            <a:r>
              <a:t>Discussion: Schema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5A4F"/>
                </a:solidFill>
                <a:latin typeface="Calibri"/>
              </a:defRPr>
            </a:pPr>
            <a:r>
              <a:t>Which properties in our database schemas are most valuable to prioritize for standardizing the literature?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474720" cy="45720"/>
          </a:xfrm>
          <a:prstGeom prst="rect">
            <a:avLst/>
          </a:prstGeom>
          <a:solidFill>
            <a:srgbClr val="3A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A17E"/>
                </a:solidFill>
                <a:latin typeface="Calibri"/>
              </a:defRPr>
            </a:pPr>
            <a:r>
              <a:t>Relational DB (Geometry)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Currently tracked: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Particle:</a:t>
            </a:r>
            <a:r>
              <a:rPr sz="1200">
                <a:solidFill>
                  <a:srgbClr val="6B7B8D"/>
                </a:solidFill>
                <a:latin typeface="Calibri"/>
              </a:rPr>
              <a:t> shape, size stats, stiffness, friction, dispersity, proportion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Container:</a:t>
            </a:r>
            <a:r>
              <a:rPr sz="1200">
                <a:solidFill>
                  <a:srgbClr val="6B7B8D"/>
                </a:solidFill>
                <a:latin typeface="Calibri"/>
              </a:rPr>
              <a:t> shape, size, dimensions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Packing:</a:t>
            </a:r>
            <a:r>
              <a:rPr sz="1200">
                <a:solidFill>
                  <a:srgbClr val="6B7B8D"/>
                </a:solidFill>
                <a:latin typeface="Calibri"/>
              </a:rPr>
              <a:t> isotropic, anisotropic, square, hexagonal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Pore descriptors:</a:t>
            </a:r>
            <a:r>
              <a:rPr sz="1200">
                <a:solidFill>
                  <a:srgbClr val="6B7B8D"/>
                </a:solidFill>
                <a:latin typeface="Calibri"/>
              </a:rPr>
              <a:t> volume, surface area, aspect ratio, longest length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Global descriptors:</a:t>
            </a:r>
            <a:r>
              <a:rPr sz="1200">
                <a:solidFill>
                  <a:srgbClr val="6B7B8D"/>
                </a:solidFill>
                <a:latin typeface="Calibri"/>
              </a:rPr>
              <a:t> porosity, pore count, mean metrics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Domains:</a:t>
            </a:r>
            <a:r>
              <a:rPr sz="1200">
                <a:solidFill>
                  <a:srgbClr val="6B7B8D"/>
                </a:solidFill>
                <a:latin typeface="Calibri"/>
              </a:rPr>
              <a:t> voxel size, mesh (.glb), segmentation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5A4F"/>
                </a:solidFill>
                <a:latin typeface="Calibri"/>
              </a:defRPr>
            </a:pPr>
            <a:r>
              <a:t>What's missing?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Throat/window descriptors?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Tortuosity / path length?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Coordination number?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Mechanical descriptors?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474720" cy="45720"/>
          </a:xfrm>
          <a:prstGeom prst="rect">
            <a:avLst/>
          </a:prstGeom>
          <a:solidFill>
            <a:srgbClr val="E89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C23"/>
                </a:solidFill>
                <a:latin typeface="Calibri"/>
              </a:defRPr>
            </a:pPr>
            <a:r>
              <a:t>RDF (Literature &amp; Experiments)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Currently tracked: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Material:</a:t>
            </a:r>
            <a:r>
              <a:rPr sz="1200">
                <a:solidFill>
                  <a:srgbClr val="6B7B8D"/>
                </a:solidFill>
                <a:latin typeface="Calibri"/>
              </a:rPr>
              <a:t> shape, size, material, porosity, surface mods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Fabrication:</a:t>
            </a:r>
            <a:r>
              <a:rPr sz="1200">
                <a:solidFill>
                  <a:srgbClr val="6B7B8D"/>
                </a:solidFill>
                <a:latin typeface="Calibri"/>
              </a:rPr>
              <a:t> chemistry, reagents + CAS#, enzymes, peptides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Experiment:</a:t>
            </a:r>
            <a:r>
              <a:rPr sz="1200">
                <a:solidFill>
                  <a:srgbClr val="6B7B8D"/>
                </a:solidFill>
                <a:latin typeface="Calibri"/>
              </a:rPr>
              <a:t> cell type/source, seeding density, culture duration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Environment:</a:t>
            </a:r>
            <a:r>
              <a:rPr sz="1200">
                <a:solidFill>
                  <a:srgbClr val="6B7B8D"/>
                </a:solidFill>
                <a:latin typeface="Calibri"/>
              </a:rPr>
              <a:t> temperature, pH, atmosphere, medium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Outcome:</a:t>
            </a:r>
            <a:r>
              <a:rPr sz="1200">
                <a:solidFill>
                  <a:srgbClr val="6B7B8D"/>
                </a:solidFill>
                <a:latin typeface="Calibri"/>
              </a:rPr>
              <a:t> value ± SD, unit, sample size, time series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12A5E"/>
                </a:solidFill>
                <a:latin typeface="Calibri"/>
              </a:rPr>
              <a:t>• Paper:</a:t>
            </a:r>
            <a:r>
              <a:rPr sz="1200">
                <a:solidFill>
                  <a:srgbClr val="6B7B8D"/>
                </a:solidFill>
                <a:latin typeface="Calibri"/>
              </a:rPr>
              <a:t> DOI, authors, journal, focus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5A4F"/>
                </a:solidFill>
                <a:latin typeface="Calibri"/>
              </a:defRPr>
            </a:pPr>
            <a:r>
              <a:t>What's missing?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Degradation profiles?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In vivo outcome categories?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Sterilization methods?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▸  Growth factor loading?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3474720" cy="45720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4F"/>
                </a:solidFill>
                <a:latin typeface="Calibri"/>
              </a:defRPr>
            </a:pPr>
            <a:r>
              <a:t>Reporting 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For the advisory board: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What should be the minimum required metadata for a scaffold upload?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Which experimental details are essential vs. nice-to-have for cross-study comparison?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Should we align with existing standards (e.g., MIAME, Dublin Core) or build our own?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How granular should outcome reporting be? (mean only vs. raw data vs. individual timepoints?)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What vocabulary/terminology should we enforce? (e.g., standard cell type names, standard assay names)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▸  How do we handle the gap between what papers report and what our schema requires?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We'd Love Your Input 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CA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What analysis tools or platform features would make LOVAMAP most useful to your work and the broader MAP scaffold community?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CA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When exploring a database of MAP scaffold geometry and published experimental data, what are the first questions you'd want to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CA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47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Relational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Which geometric, structural, or fabrication properties should we prioritize computing and storing for every scaffold?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CA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RDF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00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Which experimental details (cell types, assays, outcomes, fabrication chemistry) are most critical to capture from the literature?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CAB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58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Reporting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What minimum information should be required when uploading scaffold data or ingesting a paper, to enable meaningful cross-study comparison?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00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C4DE"/>
                </a:solidFill>
                <a:latin typeface="Calibri"/>
              </a:defRPr>
            </a:pPr>
            <a:r>
              <a:t>We value your guidance in shaping LOVAMAP into a resource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000" b="0">
                <a:solidFill>
                  <a:srgbClr val="B0C4DE"/>
                </a:solidFill>
                <a:latin typeface="Calibri"/>
              </a:defRPr>
            </a:pPr>
            <a:r>
              <a:t>the MAP scaffold community can build on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AE"/>
                </a:solidFill>
                <a:latin typeface="Calibri"/>
              </a:defRPr>
            </a:pPr>
            <a:r>
              <a:t>Segura Lab  |  Duke University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009CAB"/>
                </a:solidFill>
                <a:latin typeface="Calibri"/>
              </a:defRPr>
            </a:pPr>
            <a:r>
              <a:t>lovamap.com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2138</Words>
  <Application>Microsoft Macintosh PowerPoint</Application>
  <PresentationFormat>Widescreen</PresentationFormat>
  <Paragraphs>248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Adrianzen Alvarez, Ph.D.</cp:lastModifiedBy>
  <cp:revision>3</cp:revision>
  <dcterms:created xsi:type="dcterms:W3CDTF">2013-01-27T09:14:16Z</dcterms:created>
  <dcterms:modified xsi:type="dcterms:W3CDTF">2026-06-22T06:29:13Z</dcterms:modified>
  <cp:category/>
</cp:coreProperties>
</file>